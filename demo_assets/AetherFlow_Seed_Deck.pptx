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AetherFlow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FE2E6"/>
                </a:solidFill>
                <a:latin typeface="Arial"/>
              </a:defRPr>
            </a:pPr>
            <a:r>
              <a:t>The Sovereign Operating System for Institutional Memory &amp; Codebase Invariants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08080"/>
                </a:solidFill>
              </a:defRPr>
            </a:pPr>
            <a:r>
              <a:t>KEY FOCUS: SEED INVESTOR PRESENTATION | CONFIDENTIAL | NOVEMBER 2025 (UPDATED Q4 2026)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Presented by: Alex Vance (CEO) &amp; Dr. Elena Rostova (CTO)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Capital Raised: $1.4M Seed Round | Frontline Ventures &amp; Operator Capital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Current Scale: $82K MRR ($984K ARR) | 12 Full-Time Employees | 9 Months Cash Runway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Problem: The Institutional Amnesia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FE2E6"/>
                </a:solidFill>
                <a:latin typeface="Arial"/>
              </a:defRPr>
            </a:pPr>
            <a:r>
              <a:t>Critical Decisions, Tribal Knowledge, and Regulatory Invariants Die in Disconnected Silos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08080"/>
                </a:solidFill>
              </a:defRPr>
            </a:pPr>
            <a:r>
              <a:t>KEY FOCUS: WHY FAST-GROWING STARTUPS &amp; REGULATED ENTERPRISES BLEED VELOCITY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Meeting Oblivion: 78% of critical executive decisions and enterprise client commitments made in Zoom/Slack are never codified into tickets or specifications.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Architectural Decay: Senior engineers agree on strict invariants ('Never run network calls inside DB transactions'), but junior hires unknowingly violate them on Day 14.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Cloud Privacy Blockades: Defense, aerospace, healthcare, and finance enterprises are legally barred from sending confidential specs and customer PII to cloud LLMs.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The Cost: 22% of developer engineering capacity is wasted tracking down historical decisions or fixing silent regressions caused by tribal knowledge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Solution: The Sovereign AI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FE2E6"/>
                </a:solidFill>
                <a:latin typeface="Arial"/>
              </a:defRPr>
            </a:pPr>
            <a:r>
              <a:t>Ambient Multi-Modal Ingestion + Tree-Sitter AST Reasoning + Zero Cloud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08080"/>
                </a:solidFill>
              </a:defRPr>
            </a:pPr>
            <a:r>
              <a:t>KEY FOCUS: INSTITUTIONAL MEMORY BECOMES ACTIVE &amp; EXECUTABLE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Universal Ambient Capture: Drop folders, audio calls, Slack chats, and PDFs are continuously ingested and unified into an embedded graph database.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Living Architectural Invariants: Converts business decisions into deterministic AST linting rules (INV-001 through INV-024) enforced before code commits.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Zero Cloud Footprint: 100% air-gapped local execution on standard developer laptops using quantized Compound SLMs (Qwen 8B / 1.7B).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Continuous Memory Graph: Epistemological temporal validity windows automatically supersede obsolete policies while maintaining complete audit trails.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Market Opportunity: $38B Enterprise Workflow 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FE2E6"/>
                </a:solidFill>
                <a:latin typeface="Arial"/>
              </a:defRPr>
            </a:pPr>
            <a:r>
              <a:t>The Convergence of DevSecOps, Knowledge Management, and Sovereign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08080"/>
                </a:solidFill>
              </a:defRPr>
            </a:pPr>
            <a:r>
              <a:t>KEY FOCUS: A MASSIVE UNADDRESSED WAVE IN REGULATED &amp; SECURITY-CONSCIOUS VERTICALS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TAM: $38.4B across Enterprise Knowledge Management ($18.2B), AI Developer Tooling ($12.5B), and On-Premise Compliance Infrastructure ($7.7B).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SAM: $6.2B targeting 45,000 mid-market engineering scaleups and regulated enterprise software teams in North America &amp; Europe.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SOM: $420M initial focus on high-compliance fintechs, defense contractors, and micro-enterprises with air-gapped security mandates.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Macro Tailwinds: EU AI Act, strict data residency requirements, and rising enterprise reluctance to feed proprietary IP to public cloud LLM vendors.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Product Architecture &amp; Deep Tech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FE2E6"/>
                </a:solidFill>
                <a:latin typeface="Arial"/>
              </a:defRPr>
            </a:pPr>
            <a:r>
              <a:t>Dual-Role Model Context Protocol (MCP) + Lean QoS Concurrency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08080"/>
                </a:solidFill>
              </a:defRPr>
            </a:pPr>
            <a:r>
              <a:t>KEY FOCUS: ENGINEERED FOR 16GB LAPTOPS WITH MATHEMATICAL STABILITY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Tri-Modal Audio &amp; Markitdown Engine: Ingests audio transcripts (.vtt), Excel runway models (.xlsx), contracts (.docx), and decks (.pptx) locally.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Kùzu Graph + SQLite WAL: Lightning-fast &lt;15ms deterministic Cypher graph queries on embedded CPU without multi-process file locks.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Compound SLM Cascade: Qwen 1.7B handles sub-second entity extraction at 110 t/s, while Qwen 8B handles deep AST causal reasoning.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Deterministic AST Invariants: Tree-sitter query engine detects structural code vulnerabilities (INV-017, INV-021) with 0% false hallucination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Traction &amp;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FE2E6"/>
                </a:solidFill>
                <a:latin typeface="Arial"/>
              </a:defRPr>
            </a:pPr>
            <a:r>
              <a:t>$82K MRR with Industry-Leading Retention and Efficient Burn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08080"/>
                </a:solidFill>
              </a:defRPr>
            </a:pPr>
            <a:r>
              <a:t>KEY FOCUS: HIGH CAPITAL EFFICIENCY SUPPORTED BY CLEAN IN-MEMORY LOCAL PROCESSING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Annual Recurring Revenue (ARR): $984K ARR (growing at 14.5% MoM net organic velocity).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Customer Base: 72 active paying business customers (48 Starter Tier, 18 Growth Pro, 6 Regulated Enterprise).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Net Revenue Retention (NRR): 114% driven by expansion from individual engineering pods to company-wide deployments.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Burn Multiple: 0.90x efficiency ($74K monthly net burn on $82K MRR) with $666K liquid cash reserves providing 9.0 months of runway.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Enterprise Pilot Pipeline: Acme Corp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FE2E6"/>
                </a:solidFill>
                <a:latin typeface="Arial"/>
              </a:defRPr>
            </a:pPr>
            <a:r>
              <a:t>$80K ARR Contract Pending Custom SAML/SCIM SSO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08080"/>
                </a:solidFill>
              </a:defRPr>
            </a:pPr>
            <a:r>
              <a:t>KEY FOCUS: VALIDATING THE ENTERPRISE EXPANSION VECTOR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Account: Acme Corporation (Fortune 500 Global Manufacturing, 12,000 employees).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Contract Value: $80,000 ARR pilot covering 250 engineering seats across air-gapped private clusters.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Key Champion: David Sterling, Vice President of Global Technology Infrastructure.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The Strategic Hurdle: Mandatory requirement for on-premise SAML 2.0 / SCIM SSO delivery by May 1, 2027 (Section 5.3 MSA contingency).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Go-to-Market Strategy &amp;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FE2E6"/>
                </a:solidFill>
                <a:latin typeface="Arial"/>
              </a:defRPr>
            </a:pPr>
            <a:r>
              <a:t>Developer-First Bottom-Up Adoption Meets High-ACV Sovereign Enterprise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08080"/>
                </a:solidFill>
              </a:defRPr>
            </a:pPr>
            <a:r>
              <a:t>KEY FOCUS: TWO PARALLEL ENGINES FEEDING A HIGH-VELOCITY CONVERSION FLYWHEEL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Self-Serve PLG (Product-Led Growth): Developers install local TARS CLI and Cursor MCP plugin for free in 60 seconds; upgrades to $499/mo team tier.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Top-Down Enterprise Sales: Direct outbound led by Sarah Jenkins targeting CISOs and VPs of Engineering seeking air-gapped sovereign compliance.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Channel Partnerships: Pre-packaged deployment harnesses for Dell, HP Enterprise, and private AI hardware appliance distributors.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Zero CAC Developer Word-of-Mouth: Open-source Tree-sitter invariant rulesets driving organic developer community virality.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Financial Roadmap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FE2E6"/>
                </a:solidFill>
                <a:latin typeface="Arial"/>
              </a:defRPr>
            </a:pPr>
            <a:r>
              <a:t>Path from Seed to Series A: Scaling to $3.2M ARR within 18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08080"/>
                </a:solidFill>
              </a:defRPr>
            </a:pPr>
            <a:r>
              <a:t>KEY FOCUS: MILESTONE-DRIVEN EXECUTION WITH CONTROLLED HEADCOUNT GROWTH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Q4 2026 Milestone: Deliver SAML/SCIM enterprise gateway, close Acme Corp ($80K ARR), reach $100K MRR ($1.2M ARR).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Q1 2027 Milestone: Kick off Series A fundraising round ($8M-$10M target) with 5.5 months of cash runway remaining.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Q2 2027 Milestone: Expand multi-tenant enterprise cluster support, scale engineering team from 12 to 18 FTEs.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End of 2027 Target: Surpass $3.2M ARR, achieve cash-flow breakeven optionality, and establish undisputed category leadership.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The Founding Team &amp;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FE2E6"/>
                </a:solidFill>
                <a:latin typeface="Arial"/>
              </a:defRPr>
            </a:pPr>
            <a:r>
              <a:t>Deep Systems Architecture Expertise Paired with Enterprise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008080"/>
                </a:solidFill>
              </a:defRPr>
            </a:pPr>
            <a:r>
              <a:t>KEY FOCUS: AETHERFLOW AI: WHERE SOVEREIGN PRIVACY MEETS EXECUTABLE INSTITUTIONAL INTELLIGENCE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Alex Vance (CEO &amp; Co-Founder): Former Senior Product Director at enterprise SaaS scaleup; 2x founder with prior B2B exit.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Dr. Elena Rostova (CTO &amp; Co-Founder): PhD in Distributed Systems (MIT); former Principal Systems Architect at enterprise storage leader.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Core Team: 12 world-class operators spanning distributed systems, Tree-sitter compiler engineering, and enterprise sales.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300">
                <a:solidFill>
                  <a:srgbClr val="333F48"/>
                </a:solidFill>
                <a:latin typeface="Arial"/>
              </a:defRPr>
            </a:pPr>
            <a:r>
              <a:t>• Contact: alex@aetherflow.ai | elena@aetherflow.ai | 548 Market St, San Francisco, 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